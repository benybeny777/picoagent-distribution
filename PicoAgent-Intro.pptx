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7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PicoAgent</a:t>
            </a:r>
            <a:r>
              <a:rPr lang="ja-JP" altLang="en-US"/>
              <a:t>は、透明なウィンドウ上にキャラクターとフキダシだけを表示する</a:t>
            </a:r>
            <a:r>
              <a:rPr lang="en-US" altLang="ja-JP"/>
              <a:t>Windows</a:t>
            </a:r>
            <a:r>
              <a:rPr lang="ja-JP" altLang="en-US"/>
              <a:t>向け</a:t>
            </a:r>
            <a:r>
              <a:rPr lang="en-US" altLang="ja-JP"/>
              <a:t>AI</a:t>
            </a:r>
            <a:r>
              <a:rPr lang="ja-JP" altLang="en-US"/>
              <a:t>デスクトップペットです。会話も、</a:t>
            </a:r>
            <a:r>
              <a:rPr lang="en-US" altLang="ja-JP"/>
              <a:t>PC</a:t>
            </a:r>
            <a:r>
              <a:rPr lang="ja-JP" altLang="en-US"/>
              <a:t>作業の手伝いも、同じキャラが担当します。現在は開発中の</a:t>
            </a:r>
            <a:r>
              <a:rPr lang="en-US" altLang="ja-JP"/>
              <a:t>v1.0.2 ALPHA</a:t>
            </a:r>
            <a:r>
              <a:rPr lang="ja-JP" altLang="en-US"/>
              <a:t>を無料で配布しています。</a:t>
            </a:r>
          </a:p>
          <a:p>
            <a:endParaRPr lang="ja-JP" altLang="en-US"/>
          </a:p>
          <a:p>
            <a:r>
              <a:rPr lang="en-US" altLang="ja-JP"/>
              <a:t>[Sources]</a:t>
            </a:r>
          </a:p>
          <a:p>
            <a:r>
              <a:rPr lang="en-US" altLang="ja-JP"/>
              <a:t>- distribution/site/index.html</a:t>
            </a:r>
          </a:p>
          <a:p>
            <a:r>
              <a:rPr lang="en-US" altLang="ja-JP"/>
              <a:t>- docs/images/layout-pet.webp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上：ペット表示（キャラとフキダシだけ）／下：作業表示（履歴・回答・実行状況の</a:t>
            </a:r>
            <a:r>
              <a:rPr lang="en-US" altLang="ja-JP"/>
              <a:t>3</a:t>
            </a:r>
            <a:r>
              <a:rPr lang="ja-JP" altLang="en-US"/>
              <a:t>ペイン）。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distribution/site/index.html</a:t>
            </a:r>
          </a:p>
          <a:p>
            <a:r>
              <a:rPr lang="en-US"/>
              <a:t>-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外部サービスを使う機能は、利用者が設定して有効にしたものだけが動きます。</a:t>
            </a:r>
          </a:p>
          <a:p>
            <a:endParaRPr lang="ja-JP" altLang="en-US"/>
          </a:p>
          <a:p>
            <a:r>
              <a:rPr lang="en-US" altLang="ja-JP"/>
              <a:t>[Sources]</a:t>
            </a:r>
          </a:p>
          <a:p>
            <a:r>
              <a:rPr lang="en-US" altLang="ja-JP"/>
              <a:t>- distribution/site/index.html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スキルは会話の内容から自動で選ばれます。使わない連携は設定しなければ動きません。</a:t>
            </a:r>
          </a:p>
          <a:p>
            <a:endParaRPr lang="ja-JP" altLang="en-US"/>
          </a:p>
          <a:p>
            <a:r>
              <a:rPr lang="en-US" altLang="ja-JP"/>
              <a:t>[Sources]</a:t>
            </a:r>
          </a:p>
          <a:p>
            <a:r>
              <a:rPr lang="en-US" altLang="ja-JP"/>
              <a:t>- README.md </a:t>
            </a:r>
            <a:r>
              <a:rPr lang="ja-JP" altLang="en-US"/>
              <a:t>の機能一覧とスキル一覧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既定はローカル。クラウド</a:t>
            </a:r>
            <a:r>
              <a:rPr lang="en-US" altLang="ja-JP"/>
              <a:t>AI</a:t>
            </a:r>
            <a:r>
              <a:rPr lang="ja-JP" altLang="en-US"/>
              <a:t>は、使うと決めたときだけ送信されます。</a:t>
            </a:r>
          </a:p>
          <a:p>
            <a:endParaRPr lang="ja-JP" altLang="en-US"/>
          </a:p>
          <a:p>
            <a:r>
              <a:rPr lang="en-US" altLang="ja-JP"/>
              <a:t>[Sources]</a:t>
            </a:r>
          </a:p>
          <a:p>
            <a:r>
              <a:rPr lang="en-US" altLang="ja-JP"/>
              <a:t>- distribution/site/index.html </a:t>
            </a:r>
            <a:r>
              <a:rPr lang="ja-JP" altLang="en-US"/>
              <a:t>の</a:t>
            </a:r>
            <a:r>
              <a:rPr lang="en-US" altLang="ja-JP"/>
              <a:t>AI</a:t>
            </a:r>
            <a:r>
              <a:rPr lang="ja-JP" altLang="en-US"/>
              <a:t>モデル節</a:t>
            </a:r>
          </a:p>
          <a:p>
            <a:r>
              <a:rPr lang="en-US" altLang="ja-JP"/>
              <a:t>- README.md </a:t>
            </a:r>
            <a:r>
              <a:rPr lang="ja-JP" altLang="en-US"/>
              <a:t>の</a:t>
            </a:r>
            <a:r>
              <a:rPr lang="en-US" altLang="ja-JP"/>
              <a:t>9</a:t>
            </a:r>
            <a:r>
              <a:rPr lang="ja-JP" altLang="en-US"/>
              <a:t>プロバイダ一覧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読み上げの既定はオフ。静かに使いたいときはそのままで大丈夫です。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distribution/site/index.html </a:t>
            </a:r>
            <a:r>
              <a:rPr lang="ja-JP" altLang="en-US"/>
              <a:t>の音声・ふれあい節</a:t>
            </a:r>
          </a:p>
          <a:p>
            <a:r>
              <a:rPr lang="en-US" altLang="ja-JP"/>
              <a:t>- </a:t>
            </a:r>
            <a:r>
              <a:rPr lang="en-US"/>
              <a:t>docs/images/character-mugi.webp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同梱の</a:t>
            </a:r>
            <a:r>
              <a:rPr lang="en-US" altLang="ja-JP"/>
              <a:t>2</a:t>
            </a:r>
            <a:r>
              <a:rPr lang="en-US"/>
              <a:t>D</a:t>
            </a:r>
            <a:r>
              <a:rPr lang="ja-JP" altLang="en-US"/>
              <a:t>キャラは全て同じフルモーション仕様です。</a:t>
            </a:r>
            <a:r>
              <a:rPr lang="en-US"/>
              <a:t>Live2D</a:t>
            </a:r>
            <a:r>
              <a:rPr lang="ja-JP" altLang="en-US"/>
              <a:t>のモデル素材は同梱しません。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distribution/site/characters.html</a:t>
            </a:r>
          </a:p>
          <a:p>
            <a:r>
              <a:rPr lang="en-US"/>
              <a:t>- distribution/site/index.html </a:t>
            </a:r>
            <a:r>
              <a:rPr lang="ja-JP" altLang="en-US"/>
              <a:t>の同梱キャラクター節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再起動なしで切り替わります。右クリックまたは設定画面から選べます。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distribution/site/index.html </a:t>
            </a:r>
            <a:r>
              <a:rPr lang="ja-JP" altLang="en-US"/>
              <a:t>の表示形式節</a:t>
            </a:r>
          </a:p>
          <a:p>
            <a:r>
              <a:rPr lang="en-US" altLang="ja-JP"/>
              <a:t>- </a:t>
            </a:r>
            <a:r>
              <a:rPr lang="en-US"/>
              <a:t>docs/images/character-mugi-stream.webp </a:t>
            </a:r>
            <a:r>
              <a:rPr lang="ja-JP" altLang="en-US"/>
              <a:t>を</a:t>
            </a:r>
            <a:r>
              <a:rPr lang="en-US" altLang="ja-JP"/>
              <a:t>480</a:t>
            </a:r>
            <a:r>
              <a:rPr lang="en-US"/>
              <a:t>x270・16fps・6</a:t>
            </a:r>
            <a:r>
              <a:rPr lang="ja-JP" altLang="en-US"/>
              <a:t>秒の</a:t>
            </a:r>
            <a:r>
              <a:rPr lang="en-US"/>
              <a:t>H.264</a:t>
            </a:r>
            <a:r>
              <a:rPr lang="ja-JP" altLang="en-US"/>
              <a:t>動画へ変換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設定・会話履歴・長期記憶・関係性・追加キャラ・</a:t>
            </a:r>
            <a:r>
              <a:rPr lang="en-US"/>
              <a:t>AI</a:t>
            </a:r>
            <a:r>
              <a:rPr lang="ja-JP" altLang="en-US"/>
              <a:t>モデルは、すべて利用者の</a:t>
            </a:r>
            <a:r>
              <a:rPr lang="en-US"/>
              <a:t>PC</a:t>
            </a:r>
            <a:r>
              <a:rPr lang="ja-JP" altLang="en-US"/>
              <a:t>内に保存されます。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distribution/site/index.html </a:t>
            </a:r>
            <a:r>
              <a:rPr lang="ja-JP" altLang="en-US"/>
              <a:t>のプライバシー節</a:t>
            </a:r>
          </a:p>
          <a:p>
            <a:r>
              <a:rPr lang="en-US" altLang="ja-JP"/>
              <a:t>- </a:t>
            </a:r>
            <a:r>
              <a:rPr lang="en-US"/>
              <a:t>distribution/site/privacy.html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Ollama</a:t>
            </a:r>
            <a:r>
              <a:rPr lang="ja-JP" altLang="en-US"/>
              <a:t>風の </a:t>
            </a:r>
            <a:r>
              <a:rPr lang="en-US" altLang="ja-JP"/>
              <a:t>/</a:t>
            </a:r>
            <a:r>
              <a:rPr lang="en-US"/>
              <a:t>api/chat </a:t>
            </a:r>
            <a:r>
              <a:rPr lang="ja-JP" altLang="en-US"/>
              <a:t>と </a:t>
            </a:r>
            <a:r>
              <a:rPr lang="en-US"/>
              <a:t>OpenAI</a:t>
            </a:r>
            <a:r>
              <a:rPr lang="ja-JP" altLang="en-US"/>
              <a:t>互換の </a:t>
            </a:r>
            <a:r>
              <a:rPr lang="en-US" altLang="ja-JP"/>
              <a:t>/</a:t>
            </a:r>
            <a:r>
              <a:rPr lang="en-US"/>
              <a:t>v1/chat/completions </a:t>
            </a:r>
            <a:r>
              <a:rPr lang="ja-JP" altLang="en-US"/>
              <a:t>に対応します。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README.md </a:t>
            </a:r>
            <a:r>
              <a:rPr lang="ja-JP" altLang="en-US"/>
              <a:t>のローカル</a:t>
            </a:r>
            <a:r>
              <a:rPr lang="en-US"/>
              <a:t>HTTP API・MCP</a:t>
            </a:r>
            <a:r>
              <a:rPr lang="ja-JP" altLang="en-US"/>
              <a:t>節</a:t>
            </a:r>
          </a:p>
          <a:p>
            <a:r>
              <a:rPr lang="en-US" altLang="ja-JP"/>
              <a:t>- </a:t>
            </a:r>
            <a:r>
              <a:rPr lang="en-US"/>
              <a:t>SPEC.md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Ubuntu 24.04 LTS x64</a:t>
            </a:r>
            <a:r>
              <a:rPr lang="ja-JP" altLang="en-US"/>
              <a:t>は次版</a:t>
            </a:r>
            <a:r>
              <a:rPr lang="en-US"/>
              <a:t>v1.0.3</a:t>
            </a:r>
            <a:r>
              <a:rPr lang="ja-JP" altLang="en-US"/>
              <a:t>で基本アプリ、画面取得、</a:t>
            </a:r>
            <a:r>
              <a:rPr lang="en-US" altLang="ja-JP"/>
              <a:t>.</a:t>
            </a:r>
            <a:r>
              <a:rPr lang="en-US"/>
              <a:t>deb、AppImage</a:t>
            </a:r>
            <a:r>
              <a:rPr lang="ja-JP" altLang="en-US"/>
              <a:t>を検証済みです。一般公開・署名・更新フィードは未実施です。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README.md </a:t>
            </a:r>
            <a:r>
              <a:rPr lang="ja-JP" altLang="en-US"/>
              <a:t>の対応</a:t>
            </a:r>
            <a:r>
              <a:rPr lang="en-US"/>
              <a:t>OS・</a:t>
            </a:r>
            <a:r>
              <a:rPr lang="ja-JP" altLang="en-US"/>
              <a:t>配布ビルド節</a:t>
            </a:r>
          </a:p>
          <a:p>
            <a:r>
              <a:rPr lang="en-US" altLang="ja-JP"/>
              <a:t>- </a:t>
            </a:r>
            <a:r>
              <a:rPr lang="en-US"/>
              <a:t>docs/REVIEW-LOG.md </a:t>
            </a:r>
            <a:r>
              <a:rPr lang="ja-JP" altLang="en-US"/>
              <a:t>の</a:t>
            </a:r>
            <a:r>
              <a:rPr lang="en-US" altLang="ja-JP"/>
              <a:t>2026-08-23 </a:t>
            </a:r>
            <a:r>
              <a:rPr lang="en-US"/>
              <a:t>Ubuntu Linux</a:t>
            </a:r>
            <a:r>
              <a:rPr lang="ja-JP" altLang="en-US"/>
              <a:t>対応レビュー</a:t>
            </a:r>
          </a:p>
          <a:p>
            <a:r>
              <a:rPr lang="en-US" altLang="ja-JP"/>
              <a:t>- </a:t>
            </a:r>
            <a:r>
              <a:rPr lang="en-US"/>
              <a:t>distribution/site/latest.json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バー表示なら、呼んで、話しかけて、消す。ひと言だけ頼みたいときに向いています。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distribution/site/index.html </a:t>
            </a:r>
            <a:r>
              <a:rPr lang="ja-JP" altLang="en-US"/>
              <a:t>のクイックスタート節</a:t>
            </a:r>
          </a:p>
          <a:p>
            <a:r>
              <a:rPr lang="en-US" altLang="ja-JP"/>
              <a:t>- </a:t>
            </a:r>
            <a:r>
              <a:rPr lang="en-US"/>
              <a:t>docs/images/composer-light.webp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/>
              <a:t>Linux</a:t>
            </a:r>
            <a:r>
              <a:rPr lang="ja-JP" altLang="en-US"/>
              <a:t>対応と公開済み配布を分けて示し、期待とのずれを減らします。</a:t>
            </a:r>
          </a:p>
          <a:p>
            <a:endParaRPr lang="ja-JP" altLang="en-US"/>
          </a:p>
          <a:p>
            <a:r>
              <a:rPr lang="en-US" altLang="ja-JP"/>
              <a:t>[Sources]</a:t>
            </a:r>
          </a:p>
          <a:p>
            <a:r>
              <a:rPr lang="en-US" altLang="ja-JP"/>
              <a:t>- README.md </a:t>
            </a:r>
            <a:r>
              <a:rPr lang="ja-JP" altLang="en-US"/>
              <a:t>の対応</a:t>
            </a:r>
            <a:r>
              <a:rPr lang="en-US" altLang="ja-JP"/>
              <a:t>OS</a:t>
            </a:r>
            <a:r>
              <a:rPr lang="ja-JP" altLang="en-US"/>
              <a:t>・配布ビルド節</a:t>
            </a:r>
          </a:p>
          <a:p>
            <a:r>
              <a:rPr lang="en-US" altLang="ja-JP"/>
              <a:t>- docs/REVIEW-LOG.md </a:t>
            </a:r>
            <a:r>
              <a:rPr lang="ja-JP" altLang="en-US"/>
              <a:t>の</a:t>
            </a:r>
            <a:r>
              <a:rPr lang="en-US" altLang="ja-JP"/>
              <a:t>2026-08-23 Ubuntu Linux</a:t>
            </a:r>
            <a:r>
              <a:rPr lang="ja-JP" altLang="en-US"/>
              <a:t>対応レビュー</a:t>
            </a:r>
          </a:p>
          <a:p>
            <a:r>
              <a:rPr lang="en-US" altLang="ja-JP"/>
              <a:t>- distribution/site/index.html </a:t>
            </a:r>
            <a:r>
              <a:rPr lang="ja-JP" altLang="en-US"/>
              <a:t>の</a:t>
            </a:r>
            <a:r>
              <a:rPr lang="en-US" altLang="ja-JP"/>
              <a:t>ALPHA STATUS</a:t>
            </a:r>
            <a:r>
              <a:rPr lang="ja-JP" altLang="en-US"/>
              <a:t>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区分の内容と価格は、販売開始時に案内します。</a:t>
            </a:r>
          </a:p>
          <a:p>
            <a:endParaRPr lang="ja-JP" altLang="en-US"/>
          </a:p>
          <a:p>
            <a:r>
              <a:rPr lang="en-US" altLang="ja-JP"/>
              <a:t>[</a:t>
            </a:r>
            <a:r>
              <a:rPr lang="en-US"/>
              <a:t>Sources]</a:t>
            </a:r>
          </a:p>
          <a:p>
            <a:r>
              <a:rPr lang="en-US"/>
              <a:t>- distribution/site/index.html </a:t>
            </a:r>
            <a:r>
              <a:rPr lang="ja-JP" altLang="en-US"/>
              <a:t>の無料公開節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公式ページからインストーラを取得できます。まずは無料のアルファ版で、ご自身の</a:t>
            </a:r>
            <a:r>
              <a:rPr lang="en-US" altLang="ja-JP"/>
              <a:t>PC</a:t>
            </a:r>
            <a:r>
              <a:rPr lang="ja-JP" altLang="en-US"/>
              <a:t>での動作をご確認ください。</a:t>
            </a:r>
          </a:p>
          <a:p>
            <a:endParaRPr lang="ja-JP" altLang="en-US"/>
          </a:p>
          <a:p>
            <a:r>
              <a:rPr lang="en-US" altLang="ja-JP"/>
              <a:t>[Sources]</a:t>
            </a:r>
          </a:p>
          <a:p>
            <a:r>
              <a:rPr lang="en-US" altLang="ja-JP"/>
              <a:t>- distribution/site/index.html </a:t>
            </a:r>
            <a:r>
              <a:rPr lang="ja-JP" altLang="en-US"/>
              <a:t>の取得導線</a:t>
            </a:r>
          </a:p>
          <a:p>
            <a:r>
              <a:rPr lang="en-US" altLang="ja-JP"/>
              <a:t>- docs/images/character-mugi.webp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3.jpe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0" Type="http://schemas.openxmlformats.org/officeDocument/2006/relationships/image" Target="../media/image13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jp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71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A8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LOCAL-FIRST DESKTOP COMPANION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7373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好きなキャラと、</a:t>
            </a:r>
            <a:endParaRPr lang="en-US" sz="52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PCで暮らす。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58368" y="35661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0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話しかければ応えてくれる。</a:t>
            </a:r>
            <a:endParaRPr lang="en-US" sz="12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0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必要なときは、PC作業も手伝ってくれる。</a:t>
            </a:r>
            <a:endParaRPr lang="en-US" sz="12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0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自分らしいキャラと過ごせる、Windows向けAIデスクトップペットです。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47365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5486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4736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9696" y="4736592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3B3650"/>
          </a:solidFill>
          <a:ln w="12700">
            <a:solidFill>
              <a:srgbClr val="6E68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473659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10 /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13632" y="473659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B3650"/>
          </a:solidFill>
          <a:ln w="12700">
            <a:solidFill>
              <a:srgbClr val="6E68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4736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会話は既定でPC内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5349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7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benybeny777.github.io/PicoAgent-Distribution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536192"/>
            <a:ext cx="4764024" cy="3246120"/>
          </a:xfrm>
          <a:prstGeom prst="roundRect">
            <a:avLst>
              <a:gd name="adj" fmla="val 5070"/>
            </a:avLst>
          </a:prstGeom>
          <a:solidFill>
            <a:srgbClr val="FFFEFD"/>
          </a:solidFill>
          <a:ln/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pic>
        <p:nvPicPr>
          <p:cNvPr id="13" name="Image 0" descr="/tmp/claude-0/-home-user-PicoAgent/7130734a-69b9-54b3-90f7-bb7bb9043f8d/scratchpad/deck/img/flat-he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645920"/>
            <a:ext cx="4544568" cy="30266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0" y="4937760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7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2Dキャラクター「むぎ」／ペット表示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 IS PICOAGENT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かわいいだけじゃない。</a:t>
            </a:r>
            <a:endParaRPr lang="en-US" sz="3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毎日のPCに、ちゃんと役立つ。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17627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雑談するときも、作業を任せたいときも。同じキャラが、自然にそばにいます。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推論エンジンを同梱しているので、Ollama も Node.js も要りません。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2029968" cy="1517904"/>
          </a:xfrm>
          <a:prstGeom prst="roundRect">
            <a:avLst>
              <a:gd name="adj" fmla="val 9639"/>
            </a:avLst>
          </a:prstGeom>
          <a:solidFill>
            <a:srgbClr val="FFF0F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33467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548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</a:t>
            </a:r>
            <a:r>
              <a:rPr lang="en-US" sz="1150" b="1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スキル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68096" y="40416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会話から自動で選ばれる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3200400"/>
            <a:ext cx="2029968" cy="1517904"/>
          </a:xfrm>
          <a:prstGeom prst="roundRect">
            <a:avLst>
              <a:gd name="adj" fmla="val 9639"/>
            </a:avLst>
          </a:prstGeom>
          <a:solidFill>
            <a:srgbClr val="ECF8F4"/>
          </a:solidFill>
          <a:ln/>
        </p:spPr>
      </p:sp>
      <p:sp>
        <p:nvSpPr>
          <p:cNvPr id="9" name="Text 7"/>
          <p:cNvSpPr/>
          <p:nvPr/>
        </p:nvSpPr>
        <p:spPr>
          <a:xfrm>
            <a:off x="2980944" y="33467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FB3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r>
              <a:rPr lang="en-US" sz="1150" b="1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表示形式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980944" y="40416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ペットから配信画面まで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92624" y="3200400"/>
            <a:ext cx="2029968" cy="1517904"/>
          </a:xfrm>
          <a:prstGeom prst="roundRect">
            <a:avLst>
              <a:gd name="adj" fmla="val 9639"/>
            </a:avLst>
          </a:prstGeom>
          <a:solidFill>
            <a:srgbClr val="F2EFFC"/>
          </a:solidFill>
          <a:ln/>
        </p:spPr>
      </p:sp>
      <p:sp>
        <p:nvSpPr>
          <p:cNvPr id="12" name="Text 10"/>
          <p:cNvSpPr/>
          <p:nvPr/>
        </p:nvSpPr>
        <p:spPr>
          <a:xfrm>
            <a:off x="5193792" y="334670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F80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r>
              <a:rPr lang="en-US" sz="1150" b="1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同梱キャラ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193792" y="40416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2D・Live2Dの追加も可能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49743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既定のローカルAIなら、会話内容は外部へ送信しません。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71232" y="1051560"/>
            <a:ext cx="4041648" cy="2770632"/>
          </a:xfrm>
          <a:prstGeom prst="roundRect">
            <a:avLst>
              <a:gd name="adj" fmla="val 5281"/>
            </a:avLst>
          </a:prstGeom>
          <a:solidFill>
            <a:srgbClr val="FFFEFD"/>
          </a:solidFill>
          <a:ln/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pic>
        <p:nvPicPr>
          <p:cNvPr id="16" name="Image 0" descr="/tmp/claude-0/-home-user-PicoAgent/7130734a-69b9-54b3-90f7-bb7bb9043f8d/scratchpad/deck/img/flat-ma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161288"/>
            <a:ext cx="3822192" cy="255117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571232" y="4023360"/>
            <a:ext cx="4041648" cy="2276856"/>
          </a:xfrm>
          <a:prstGeom prst="roundRect">
            <a:avLst>
              <a:gd name="adj" fmla="val 6426"/>
            </a:avLst>
          </a:prstGeom>
          <a:solidFill>
            <a:srgbClr val="FFFEFD"/>
          </a:solidFill>
          <a:ln/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pic>
        <p:nvPicPr>
          <p:cNvPr id="18" name="Image 1" descr="/tmp/claude-0/-home-user-PicoAgent/7130734a-69b9-54b3-90f7-bb7bb9043f8d/scratchpad/deck/img/flat-workspa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4133088"/>
            <a:ext cx="3383280" cy="2057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 PILLARS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話す。手伝う。自分らしくする。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PicoAgentができることは、この3つに整理できます。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3529584" cy="3310128"/>
          </a:xfrm>
          <a:prstGeom prst="roundRect">
            <a:avLst>
              <a:gd name="adj" fmla="val 4420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523744"/>
            <a:ext cx="512064" cy="512064"/>
          </a:xfrm>
          <a:prstGeom prst="ellipse">
            <a:avLst/>
          </a:prstGeom>
          <a:solidFill>
            <a:srgbClr val="FFF0F3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17904" y="2560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TALK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99616" y="2761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3310128"/>
            <a:ext cx="28712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テキストでも音声でも会話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キャラごとの人格・口調・声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読み上げに合わせた口パク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なでなでへの反応と長期記憶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4256" y="2212848"/>
            <a:ext cx="3529584" cy="3310128"/>
          </a:xfrm>
          <a:prstGeom prst="roundRect">
            <a:avLst>
              <a:gd name="adj" fmla="val 4420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2523744"/>
            <a:ext cx="512064" cy="512064"/>
          </a:xfrm>
          <a:prstGeom prst="ellipse">
            <a:avLst/>
          </a:prstGeom>
          <a:solidFill>
            <a:srgbClr val="ECF8F4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FB3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✦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85232" y="2560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FB3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HELP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66944" y="2761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手伝う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3310128"/>
            <a:ext cx="28712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ファイル整理・予定・要約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Web検索と調査レポート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PC操作・コマンド・予約実行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許可した範囲だけを扱う設計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1584" y="2212848"/>
            <a:ext cx="3529584" cy="3310128"/>
          </a:xfrm>
          <a:prstGeom prst="roundRect">
            <a:avLst>
              <a:gd name="adj" fmla="val 4420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2523744"/>
            <a:ext cx="512064" cy="512064"/>
          </a:xfrm>
          <a:prstGeom prst="ellipse">
            <a:avLst/>
          </a:prstGeom>
          <a:solidFill>
            <a:srgbClr val="F2EFFC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52560" y="2560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CUSTOMIZE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34272" y="2761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自分らしくする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30768" y="3310128"/>
            <a:ext cx="28712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自作の2D画像を追加できる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利用権のあるLive2Dも読み込み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見たまま配置・構図を保存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背景・声まで好みに合わせる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 SKILLS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「できること」は、70種のスキルで増えていく。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頼めることは雑談だけではありません。目的ごとのスキルを持っていて、会話の中から必要なものだけを自分で選んで実行します。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2743200" cy="1481328"/>
          </a:xfrm>
          <a:prstGeom prst="roundRect">
            <a:avLst>
              <a:gd name="adj" fmla="val 987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432304"/>
            <a:ext cx="137160" cy="137160"/>
          </a:xfrm>
          <a:prstGeom prst="ellipse">
            <a:avLst/>
          </a:prstGeom>
          <a:solidFill>
            <a:srgbClr val="B54862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34086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毎日の習慣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時刻・天気・目覚まし・リマインダー・集中タイマー・ToDo・今日のまとめ・ニュース・RSS・為替・株価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9856" y="2157984"/>
            <a:ext cx="2743200" cy="1481328"/>
          </a:xfrm>
          <a:prstGeom prst="roundRect">
            <a:avLst>
              <a:gd name="adj" fmla="val 987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2432304"/>
            <a:ext cx="137160" cy="137160"/>
          </a:xfrm>
          <a:prstGeom prst="ellipse">
            <a:avLst/>
          </a:prstGeom>
          <a:solidFill>
            <a:srgbClr val="6FB39C"/>
          </a:solidFill>
          <a:ln/>
        </p:spPr>
      </p:sp>
      <p:sp>
        <p:nvSpPr>
          <p:cNvPr id="11" name="Text 9"/>
          <p:cNvSpPr/>
          <p:nvPr/>
        </p:nvSpPr>
        <p:spPr>
          <a:xfrm>
            <a:off x="3877056" y="234086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ファイルと文書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724912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読み書き・ファイル名／全文検索・作業フォルダ整理・PDF編集・Office文書・形式変換・画像加工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72784" y="2157984"/>
            <a:ext cx="2743200" cy="1481328"/>
          </a:xfrm>
          <a:prstGeom prst="roundRect">
            <a:avLst>
              <a:gd name="adj" fmla="val 987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432304"/>
            <a:ext cx="137160" cy="137160"/>
          </a:xfrm>
          <a:prstGeom prst="ellipse">
            <a:avLst/>
          </a:prstGeom>
          <a:solidFill>
            <a:srgbClr val="8F80C9"/>
          </a:solidFill>
          <a:ln/>
        </p:spPr>
      </p:sp>
      <p:sp>
        <p:nvSpPr>
          <p:cNvPr id="15" name="Text 13"/>
          <p:cNvSpPr/>
          <p:nvPr/>
        </p:nvSpPr>
        <p:spPr>
          <a:xfrm>
            <a:off x="6729984" y="234086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PC操作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724912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アプリ起動・ウィンドウ操作・クリップボード・コマンド実行・長時間ジョブ・予約実行・コード実行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25712" y="2157984"/>
            <a:ext cx="2743200" cy="1481328"/>
          </a:xfrm>
          <a:prstGeom prst="roundRect">
            <a:avLst>
              <a:gd name="adj" fmla="val 987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45168" y="2432304"/>
            <a:ext cx="137160" cy="137160"/>
          </a:xfrm>
          <a:prstGeom prst="ellipse">
            <a:avLst/>
          </a:prstGeom>
          <a:solidFill>
            <a:srgbClr val="B54862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234086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Webと調べもの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45168" y="2724912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Web検索・ページ取得・ブラウザ操作・調査レポート作成・プロジェクト単位の情報整理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3785616"/>
            <a:ext cx="2743200" cy="1481328"/>
          </a:xfrm>
          <a:prstGeom prst="roundRect">
            <a:avLst>
              <a:gd name="adj" fmla="val 987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6384" y="4059936"/>
            <a:ext cx="137160" cy="137160"/>
          </a:xfrm>
          <a:prstGeom prst="ellipse">
            <a:avLst/>
          </a:prstGeom>
          <a:solidFill>
            <a:srgbClr val="6FB39C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9684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連絡とタスク管理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" y="435254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Gmail・Slack・Discord・GitHub・Notion・Jira・Linear・Trello・Todoist・Google各種・Microsoft Graph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19856" y="3785616"/>
            <a:ext cx="2743200" cy="1481328"/>
          </a:xfrm>
          <a:prstGeom prst="roundRect">
            <a:avLst>
              <a:gd name="adj" fmla="val 987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39312" y="4059936"/>
            <a:ext cx="137160" cy="137160"/>
          </a:xfrm>
          <a:prstGeom prst="ellipse">
            <a:avLst/>
          </a:prstGeom>
          <a:solidFill>
            <a:srgbClr val="8F80C9"/>
          </a:solidFill>
          <a:ln/>
        </p:spPr>
      </p:sp>
      <p:sp>
        <p:nvSpPr>
          <p:cNvPr id="27" name="Text 25"/>
          <p:cNvSpPr/>
          <p:nvPr/>
        </p:nvSpPr>
        <p:spPr>
          <a:xfrm>
            <a:off x="3877056" y="39684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39312" y="435254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X・Bluesky・Mastodon・Misskey・Reddit・LinkedIn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72784" y="3785616"/>
            <a:ext cx="2743200" cy="1481328"/>
          </a:xfrm>
          <a:prstGeom prst="roundRect">
            <a:avLst>
              <a:gd name="adj" fmla="val 987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059936"/>
            <a:ext cx="137160" cy="137160"/>
          </a:xfrm>
          <a:prstGeom prst="ellipse">
            <a:avLst/>
          </a:prstGeom>
          <a:solidFill>
            <a:srgbClr val="B54862"/>
          </a:solidFill>
          <a:ln/>
        </p:spPr>
      </p:sp>
      <p:sp>
        <p:nvSpPr>
          <p:cNvPr id="31" name="Text 29"/>
          <p:cNvSpPr/>
          <p:nvPr/>
        </p:nvSpPr>
        <p:spPr>
          <a:xfrm>
            <a:off x="6729984" y="39684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音声と記録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35254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会議の録音・ローカル文字起こし（Whisper）・議事録づくり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25712" y="3785616"/>
            <a:ext cx="2743200" cy="1481328"/>
          </a:xfrm>
          <a:prstGeom prst="roundRect">
            <a:avLst>
              <a:gd name="adj" fmla="val 987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45168" y="4059936"/>
            <a:ext cx="137160" cy="137160"/>
          </a:xfrm>
          <a:prstGeom prst="ellipse">
            <a:avLst/>
          </a:prstGeom>
          <a:solidFill>
            <a:srgbClr val="6FB39C"/>
          </a:solidFill>
          <a:ln/>
        </p:spPr>
      </p:sp>
      <p:sp>
        <p:nvSpPr>
          <p:cNvPr id="35" name="Text 33"/>
          <p:cNvSpPr/>
          <p:nvPr/>
        </p:nvSpPr>
        <p:spPr>
          <a:xfrm>
            <a:off x="9582912" y="396849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45168" y="435254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画像生成・ComfyUI連携・制作ワークスペース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5669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ファイル操作は許可した範囲だけ。削除相当は必ずゴミ箱へ。外部サービス連携は、鍵やトークンを設定した分だけ有効になります。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CHOOSE YOUR AI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頭脳は、あとから選べる。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既定は同梱のローカルAIです。初回だけモデルを取得すれば、以後はオフラインでも会話できます。もっと賢くしたくなったら、設定から接続先を切り替えるだけです。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523744"/>
            <a:ext cx="5029200" cy="3200400"/>
          </a:xfrm>
          <a:prstGeom prst="roundRect">
            <a:avLst>
              <a:gd name="adj" fmla="val 5143"/>
            </a:avLst>
          </a:prstGeom>
          <a:solidFill>
            <a:srgbClr val="292B3D"/>
          </a:solidFill>
          <a:ln/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77977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54862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7797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DEFAULT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31821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同梱ローカルAI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32688" y="36941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推論エンジンを同梱。PCのメモリ／VRAMの目安から自動でモデルを選び、初回だけダウンロードします。会話内容は外部へ送信しません。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2688" y="449884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8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4498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 約3.1GB／通常 約5.0GB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482803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8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4828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取得後はオフライン動作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515721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8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07008" y="51572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手動で別のモデルへ変更も可能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523744"/>
            <a:ext cx="5687568" cy="1417320"/>
          </a:xfrm>
          <a:prstGeom prst="roundRect">
            <a:avLst>
              <a:gd name="adj" fmla="val 10323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76148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CF8F4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761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6FB3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50608" y="27249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Ollama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09360" y="3163824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すでにOllamaを使っているなら、そのまま接続先に指定できます。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4114800"/>
            <a:ext cx="5687568" cy="1609344"/>
          </a:xfrm>
          <a:prstGeom prst="roundRect">
            <a:avLst>
              <a:gd name="adj" fmla="val 9091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4352544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2EFFC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3525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/ CLI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71232" y="43159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9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</a:t>
            </a:r>
            <a:r>
              <a:rPr lang="en-US" sz="19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AI・CLI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309360" y="4754880"/>
            <a:ext cx="4956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DeepSeek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xAI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Mistral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OpenAI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互換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Codex CLI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も指定できます。外部</a:t>
            </a:r>
            <a:r>
              <a:rPr lang="en-US" altLang="ja-JP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の利用料・各サービスの条件が適用されます。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VOICE &amp; TOUCH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声で返ってくると、</a:t>
            </a:r>
            <a:endParaRPr lang="en-US" sz="32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もっと「いる」感じがする。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487168"/>
            <a:ext cx="512064" cy="512064"/>
          </a:xfrm>
          <a:prstGeom prst="ellipse">
            <a:avLst/>
          </a:prstGeom>
          <a:solidFill>
            <a:srgbClr val="FFF0F3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468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読み上げ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798064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同梱の音声エンジンで返事を読み上げます。キャラごとに声を選べて、口パクも実際の声量に合わせて動きます。既定はオフです。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785616"/>
            <a:ext cx="512064" cy="512064"/>
          </a:xfrm>
          <a:prstGeom prst="ellipse">
            <a:avLst/>
          </a:prstGeom>
          <a:solidFill>
            <a:srgbClr val="ECF8F4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785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B3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767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音声入力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4096512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マイクから話しかけられます。文字起こしはPCの中で行うため、音声を外部へ送りません。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5084064"/>
            <a:ext cx="512064" cy="512064"/>
          </a:xfrm>
          <a:prstGeom prst="ellipse">
            <a:avLst/>
          </a:prstGeom>
          <a:solidFill>
            <a:srgbClr val="F2EFF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5084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50657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ふれあい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539496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クリックやなでなでに反応し、関係性の記録と長期記憶で、話した内容や呼びかたを覚えていきます。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1371600"/>
            <a:ext cx="4169664" cy="4498848"/>
          </a:xfrm>
          <a:prstGeom prst="roundRect">
            <a:avLst>
              <a:gd name="adj" fmla="val 4386"/>
            </a:avLst>
          </a:prstGeom>
          <a:solidFill>
            <a:srgbClr val="FFF0F3"/>
          </a:solidFill>
          <a:ln/>
        </p:spPr>
      </p:sp>
      <p:pic>
        <p:nvPicPr>
          <p:cNvPr id="17" name="Image 0" descr="/tmp/claude-0/-home-user-PicoAgent/7130734a-69b9-54b3-90f7-bb7bb9043f8d/scratchpad/deck/img/flat-face-mugi-pin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572768"/>
            <a:ext cx="2935224" cy="35935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35240" y="5266944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A944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キャラごとに人格・口調・声を設定できます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YOUR CHARACTER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気分に合う相棒から、始めよう。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ja-JP" altLang="en-US" sz="12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アルファ</a:t>
            </a:r>
            <a:r>
              <a:rPr lang="en-US" sz="12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版に付属する</a:t>
            </a: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2Dキャラは、まばたき、口パク、視線、喜び／悲しみ、待機モーションに対応しています。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2688336" cy="1792224"/>
          </a:xfrm>
          <a:prstGeom prst="roundRect">
            <a:avLst>
              <a:gd name="adj" fmla="val 8163"/>
            </a:avLst>
          </a:prstGeom>
          <a:solidFill>
            <a:srgbClr val="FFF0F3"/>
          </a:solidFill>
          <a:ln/>
        </p:spPr>
      </p:sp>
      <p:pic>
        <p:nvPicPr>
          <p:cNvPr id="6" name="Image 0" descr="/tmp/claude-0/-home-user-PicoAgent/7130734a-69b9-54b3-90f7-bb7bb9043f8d/scratchpad/deck/img/flat-face-mug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2286000"/>
            <a:ext cx="996696" cy="12252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4930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むぎ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4944" y="374904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明るく寄り添う作業相棒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64992" y="2212848"/>
            <a:ext cx="2688336" cy="1792224"/>
          </a:xfrm>
          <a:prstGeom prst="roundRect">
            <a:avLst>
              <a:gd name="adj" fmla="val 8163"/>
            </a:avLst>
          </a:prstGeom>
          <a:solidFill>
            <a:srgbClr val="ECF8F4"/>
          </a:solidFill>
          <a:ln/>
        </p:spPr>
      </p:sp>
      <p:pic>
        <p:nvPicPr>
          <p:cNvPr id="10" name="Image 1" descr="/tmp/claude-0/-home-user-PicoAgent/7130734a-69b9-54b3-90f7-bb7bb9043f8d/scratchpad/deck/img/flat-face-r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286000"/>
            <a:ext cx="996696" cy="12252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11296" y="34930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りん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93008" y="374904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面倒見がいいツンデレ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163056" y="2212848"/>
            <a:ext cx="2688336" cy="1792224"/>
          </a:xfrm>
          <a:prstGeom prst="roundRect">
            <a:avLst>
              <a:gd name="adj" fmla="val 8163"/>
            </a:avLst>
          </a:prstGeom>
          <a:solidFill>
            <a:srgbClr val="FFF0F3"/>
          </a:solidFill>
          <a:ln/>
        </p:spPr>
      </p:sp>
      <p:pic>
        <p:nvPicPr>
          <p:cNvPr id="14" name="Image 2" descr="/tmp/claude-0/-home-user-PicoAgent/7130734a-69b9-54b3-90f7-bb7bb9043f8d/scratchpad/deck/img/flat-face-ma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2286000"/>
            <a:ext cx="996696" cy="12252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34930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まい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91072" y="374904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包容力のあるお姉さん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961120" y="2212848"/>
            <a:ext cx="2688336" cy="1792224"/>
          </a:xfrm>
          <a:prstGeom prst="roundRect">
            <a:avLst>
              <a:gd name="adj" fmla="val 8163"/>
            </a:avLst>
          </a:prstGeom>
          <a:solidFill>
            <a:srgbClr val="ECF8F4"/>
          </a:solidFill>
          <a:ln/>
        </p:spPr>
      </p:sp>
      <p:pic>
        <p:nvPicPr>
          <p:cNvPr id="18" name="Image 3" descr="/tmp/claude-0/-home-user-PicoAgent/7130734a-69b9-54b3-90f7-bb7bb9043f8d/scratchpad/deck/img/flat-face-koharu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368" y="2286000"/>
            <a:ext cx="996696" cy="12252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07424" y="34930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こはる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089136" y="374904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親しみやすい作業相棒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566928" y="4169664"/>
            <a:ext cx="2688336" cy="1792224"/>
          </a:xfrm>
          <a:prstGeom prst="roundRect">
            <a:avLst>
              <a:gd name="adj" fmla="val 8163"/>
            </a:avLst>
          </a:prstGeom>
          <a:solidFill>
            <a:srgbClr val="FFF0F3"/>
          </a:solidFill>
          <a:ln/>
        </p:spPr>
      </p:sp>
      <p:pic>
        <p:nvPicPr>
          <p:cNvPr id="22" name="Image 4" descr="/tmp/claude-0/-home-user-PicoAgent/7130734a-69b9-54b3-90f7-bb7bb9043f8d/scratchpad/deck/img/flat-face-sen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8176" y="4242816"/>
            <a:ext cx="996696" cy="12252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" y="54498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セナ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94944" y="570585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凛とした歌姫系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3364992" y="4169664"/>
            <a:ext cx="2688336" cy="1792224"/>
          </a:xfrm>
          <a:prstGeom prst="roundRect">
            <a:avLst>
              <a:gd name="adj" fmla="val 8163"/>
            </a:avLst>
          </a:prstGeom>
          <a:solidFill>
            <a:srgbClr val="ECF8F4"/>
          </a:solidFill>
          <a:ln/>
        </p:spPr>
      </p:sp>
      <p:pic>
        <p:nvPicPr>
          <p:cNvPr id="26" name="Image 5" descr="/tmp/claude-0/-home-user-PicoAgent/7130734a-69b9-54b3-90f7-bb7bb9043f8d/scratchpad/deck/img/flat-face-no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4242816"/>
            <a:ext cx="996696" cy="12252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11296" y="54498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ノア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3493008" y="570585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上品な吸血姫風メイド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6163056" y="4169664"/>
            <a:ext cx="2688336" cy="1792224"/>
          </a:xfrm>
          <a:prstGeom prst="roundRect">
            <a:avLst>
              <a:gd name="adj" fmla="val 8163"/>
            </a:avLst>
          </a:prstGeom>
          <a:solidFill>
            <a:srgbClr val="FFF0F3"/>
          </a:solidFill>
          <a:ln/>
        </p:spPr>
      </p:sp>
      <p:pic>
        <p:nvPicPr>
          <p:cNvPr id="30" name="Image 6" descr="/tmp/claude-0/-home-user-PicoAgent/7130734a-69b9-54b3-90f7-bb7bb9043f8d/scratchpad/deck/img/flat-face-photoreal-prototyp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4304" y="4242816"/>
            <a:ext cx="996696" cy="122529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09360" y="54498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実写2Dテスト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6291072" y="570585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84フレーム／目・口7段階</a:t>
            </a:r>
            <a:endParaRPr lang="en-US" sz="850" dirty="0"/>
          </a:p>
        </p:txBody>
      </p:sp>
      <p:sp>
        <p:nvSpPr>
          <p:cNvPr id="33" name="Shape 24"/>
          <p:cNvSpPr/>
          <p:nvPr/>
        </p:nvSpPr>
        <p:spPr>
          <a:xfrm>
            <a:off x="8961120" y="4169664"/>
            <a:ext cx="2688336" cy="1792224"/>
          </a:xfrm>
          <a:prstGeom prst="roundRect">
            <a:avLst>
              <a:gd name="adj" fmla="val 8163"/>
            </a:avLst>
          </a:prstGeom>
          <a:solidFill>
            <a:srgbClr val="F2EFFC"/>
          </a:solidFill>
          <a:ln/>
        </p:spPr>
      </p:sp>
      <p:pic>
        <p:nvPicPr>
          <p:cNvPr id="34" name="Image 7" descr="/tmp/claude-0/-home-user-PicoAgent/7130734a-69b9-54b3-90f7-bb7bb9043f8d/scratchpad/deck/img/flat-face-hiyori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2368" y="4242816"/>
            <a:ext cx="996696" cy="122529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07424" y="54498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ひより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9089136" y="570585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元気な看板娘／Live2D表示例</a:t>
            </a:r>
            <a:endParaRPr lang="en-US" sz="850" dirty="0"/>
          </a:p>
        </p:txBody>
      </p:sp>
      <p:sp>
        <p:nvSpPr>
          <p:cNvPr id="37" name="Text 27"/>
          <p:cNvSpPr/>
          <p:nvPr/>
        </p:nvSpPr>
        <p:spPr>
          <a:xfrm>
            <a:off x="566928" y="596188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Live2Dモデルは販売版へ同梱せず、利用者が権利を持つモデル（Cubism 4 / 5）を読み込む方式です。自作の透過PNGから、動く2Dキャラを作ることもできます。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本作品のキャラクターには株式会社Live2Dの著作物が用いられています。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39" name="Text 29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LAYOUTS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居場所も、使い方も、ワンクリックで切り替え。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小さなデスクトップペットから、配信画面、LINE風チャットまで。目的に合う7つの表示形式を用意しています。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2926080" cy="2395728"/>
          </a:xfrm>
          <a:prstGeom prst="roundRect">
            <a:avLst>
              <a:gd name="adj" fmla="val 610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3438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STREAM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9808" y="3639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39684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1920×1080の背景とテロップ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75888" y="2139696"/>
            <a:ext cx="2926080" cy="2395728"/>
          </a:xfrm>
          <a:prstGeom prst="roundRect">
            <a:avLst>
              <a:gd name="adj" fmla="val 610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pic>
        <p:nvPicPr>
          <p:cNvPr id="11" name="Image 1" descr="/tmp/claude-0/-home-user-PicoAgent/7130734a-69b9-54b3-90f7-bb7bb9043f8d/scratchpad/deck/img/flat-workspac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2249424"/>
            <a:ext cx="2633472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3438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WORKSPACE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858768" y="3639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858768" y="39684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履歴・回答・実行状況の3ペイン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784848" y="2139696"/>
            <a:ext cx="2926080" cy="2395728"/>
          </a:xfrm>
          <a:prstGeom prst="roundRect">
            <a:avLst>
              <a:gd name="adj" fmla="val 6107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pic>
        <p:nvPicPr>
          <p:cNvPr id="16" name="Image 2" descr="/tmp/claude-0/-home-user-PicoAgent/7130734a-69b9-54b3-90f7-bb7bb9043f8d/scratchpad/deck/img/flat-cha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984" y="2249424"/>
            <a:ext cx="749808" cy="10972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3438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967728" y="3639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967728" y="39684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LINE風の左右吹き出し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66928" y="4773168"/>
            <a:ext cx="2688336" cy="969264"/>
          </a:xfrm>
          <a:prstGeom prst="roundRect">
            <a:avLst>
              <a:gd name="adj" fmla="val 13208"/>
            </a:avLst>
          </a:prstGeom>
          <a:solidFill>
            <a:srgbClr val="FFF9F6"/>
          </a:solidFill>
          <a:ln/>
        </p:spPr>
      </p:sp>
      <p:sp>
        <p:nvSpPr>
          <p:cNvPr id="21" name="Text 16"/>
          <p:cNvSpPr/>
          <p:nvPr/>
        </p:nvSpPr>
        <p:spPr>
          <a:xfrm>
            <a:off x="768096" y="4901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ペット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68096" y="51937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キャラと吹き出しだけの基本形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64992" y="4773168"/>
            <a:ext cx="2688336" cy="969264"/>
          </a:xfrm>
          <a:prstGeom prst="roundRect">
            <a:avLst>
              <a:gd name="adj" fmla="val 13208"/>
            </a:avLst>
          </a:prstGeom>
          <a:solidFill>
            <a:srgbClr val="FFF9F6"/>
          </a:solidFill>
          <a:ln/>
        </p:spPr>
      </p:sp>
      <p:sp>
        <p:nvSpPr>
          <p:cNvPr id="24" name="Text 19"/>
          <p:cNvSpPr/>
          <p:nvPr/>
        </p:nvSpPr>
        <p:spPr>
          <a:xfrm>
            <a:off x="3566160" y="4901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ミニ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566160" y="51937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上半身のキャラを見せる縦長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163056" y="4773168"/>
            <a:ext cx="2688336" cy="969264"/>
          </a:xfrm>
          <a:prstGeom prst="roundRect">
            <a:avLst>
              <a:gd name="adj" fmla="val 13208"/>
            </a:avLst>
          </a:prstGeom>
          <a:solidFill>
            <a:srgbClr val="FFF9F6"/>
          </a:solidFill>
          <a:ln/>
        </p:spPr>
      </p:sp>
      <p:sp>
        <p:nvSpPr>
          <p:cNvPr id="27" name="Text 22"/>
          <p:cNvSpPr/>
          <p:nvPr/>
        </p:nvSpPr>
        <p:spPr>
          <a:xfrm>
            <a:off x="6364224" y="4901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バー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64224" y="51937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画面の端に置ける横長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961120" y="4773168"/>
            <a:ext cx="2688336" cy="969264"/>
          </a:xfrm>
          <a:prstGeom prst="roundRect">
            <a:avLst>
              <a:gd name="adj" fmla="val 13208"/>
            </a:avLst>
          </a:prstGeom>
          <a:solidFill>
            <a:srgbClr val="FFF9F6"/>
          </a:solidFill>
          <a:ln/>
        </p:spPr>
      </p:sp>
      <p:sp>
        <p:nvSpPr>
          <p:cNvPr id="30" name="Text 25"/>
          <p:cNvSpPr/>
          <p:nvPr/>
        </p:nvSpPr>
        <p:spPr>
          <a:xfrm>
            <a:off x="9162288" y="4901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ウィジェット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9162288" y="51937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邪魔しない最小サイズ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66928" y="59984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「配置」モードではOBSのようにキャラ・フキダシ・入力欄を直接ドラッグ／拡大縮小でき、表示形式ごとに配置とウィンドウサイズを覚えます。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850" dirty="0"/>
          </a:p>
        </p:txBody>
      </p:sp>
      <p:pic>
        <p:nvPicPr>
          <p:cNvPr id="6" name="配信画面 6秒動画" descr="むぎが口パク、考え中、待機へ移る配信画面の6秒動画">
            <a:hlinkClick r:id="" action="ppaction://media"/>
            <a:extLst>
              <a:ext uri="{FF2B5EF4-FFF2-40B4-BE49-F238E27FC236}">
                <a16:creationId xmlns:a16="http://schemas.microsoft.com/office/drawing/2014/main" id="{83524CA7-7DBB-472D-667C-7455A213D5D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13232" y="2249424"/>
            <a:ext cx="2633472" cy="1097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FFF0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 BY DEFAULT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会話は、まずPCの中で。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既定のローカルAIでは、会話内容を外部へ送信しません。クラウドAIや外部サービスを自分で選んだ場合だけ、その機能に必要な情報を接続先へ送ります。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3529584" cy="2615184"/>
          </a:xfrm>
          <a:prstGeom prst="roundRect">
            <a:avLst>
              <a:gd name="adj" fmla="val 629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E68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3236976"/>
            <a:ext cx="420624" cy="420624"/>
          </a:xfrm>
          <a:prstGeom prst="ellipse">
            <a:avLst/>
          </a:prstGeom>
          <a:solidFill>
            <a:srgbClr val="B54862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38221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許可した場所だけ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4206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ファイル操作は許可範囲を指定。削除相当はゴミ箱へ移動し、物理削除コマンドは拒否します。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2926080"/>
            <a:ext cx="3529584" cy="2615184"/>
          </a:xfrm>
          <a:prstGeom prst="roundRect">
            <a:avLst>
              <a:gd name="adj" fmla="val 629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E68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3236976"/>
            <a:ext cx="420624" cy="420624"/>
          </a:xfrm>
          <a:prstGeom prst="ellipse">
            <a:avLst/>
          </a:prstGeom>
          <a:solidFill>
            <a:srgbClr val="B54862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5152" y="38221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連携は選択制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5152" y="4206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クラウドAIや外部サービスは任意。APIキーはWindowsでは暗号化して保存します。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2926080"/>
            <a:ext cx="3529584" cy="2615184"/>
          </a:xfrm>
          <a:prstGeom prst="roundRect">
            <a:avLst>
              <a:gd name="adj" fmla="val 629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E68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3236976"/>
            <a:ext cx="420624" cy="420624"/>
          </a:xfrm>
          <a:prstGeom prst="ellipse">
            <a:avLst/>
          </a:prstGeom>
          <a:solidFill>
            <a:srgbClr val="B5486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38221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オフラインでも起動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4206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取得や更新確認を見送り、不要なエラー画面を出しません。データはすべてPC内に保存されます。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88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8E88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E88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 DEVELOPERS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外から叩ける。外のツールも取り込める。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デスクトップペットとしてだけでなく、手元のAIエージェント基盤としても使えます。どちらも既定では無効で、使うと決めたときだけ有効にします。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3529584" cy="3017520"/>
          </a:xfrm>
          <a:prstGeom prst="roundRect">
            <a:avLst>
              <a:gd name="adj" fmla="val 484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2670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ローカルHTTP 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127.0.0.1のみで待ち受け、トークン認証付き。既存のクライアントからそのまま呼べます。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4224528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7824" y="4681728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4681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/v1/chat/completions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2395728"/>
            <a:ext cx="3529584" cy="3017520"/>
          </a:xfrm>
          <a:prstGeom prst="roundRect">
            <a:avLst>
              <a:gd name="adj" fmla="val 484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2670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MCP サーバー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5152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PicoAgentのスキルをMCPツールとして公開できます。ほかのAIクライアントから、このPCのスキルを使えます。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5152" y="4224528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ECF8F4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B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2395728"/>
            <a:ext cx="3529584" cy="3017520"/>
          </a:xfrm>
          <a:prstGeom prst="roundRect">
            <a:avLst>
              <a:gd name="adj" fmla="val 484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2670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MCP クライアント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外部のMCPサーバーを登録すると、そのツールがスキル一覧へ自動で加わります。会話からそのまま呼び出せます。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4224528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2EF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8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外部MCP → スキル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56144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バックエンドは Rust、フロントは WebView の軽量な Tauri ネイティブ構成です。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INSTALLING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動作環境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ローカルAIのモデルにより、必要容量と速度は変わります。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529584" cy="1298448"/>
          </a:xfrm>
          <a:prstGeom prst="roundRect">
            <a:avLst>
              <a:gd name="adj" fmla="val 1126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268833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Windows・Ubuntu Linux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035808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10／11 x64、Ubuntu 24.04 LTS x64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34256" y="2286000"/>
            <a:ext cx="3529584" cy="1298448"/>
          </a:xfrm>
          <a:prstGeom prst="roundRect">
            <a:avLst>
              <a:gd name="adj" fmla="val 1126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8576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08576" y="268833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CPUだけでも動作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8576" y="3035808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GPUなしでも利用可能。速度はモデルとCPUによる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01584" y="2286000"/>
            <a:ext cx="3529584" cy="1298448"/>
          </a:xfrm>
          <a:prstGeom prst="roundRect">
            <a:avLst>
              <a:gd name="adj" fmla="val 1126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5904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75904" y="268833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RAM 8GB（最低目安）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75904" y="3035808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通常推奨: 16GB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712464"/>
            <a:ext cx="3529584" cy="1298448"/>
          </a:xfrm>
          <a:prstGeom prst="roundRect">
            <a:avLst>
              <a:gd name="adj" fmla="val 1126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" y="411480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必須ではありません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446227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推奨: VRAM 4GB・Vulkan対応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34256" y="3712464"/>
            <a:ext cx="3529584" cy="1298448"/>
          </a:xfrm>
          <a:prstGeom prst="roundRect">
            <a:avLst>
              <a:gd name="adj" fmla="val 1126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容量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08576" y="411480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5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本体 約</a:t>
            </a:r>
            <a:r>
              <a:rPr lang="en-US" altLang="ja-JP" sz="15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401</a:t>
            </a:r>
            <a:r>
              <a:rPr lang="en-US" sz="15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08576" y="446227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小型モデル 約3.1GB ／ 通常モデル 約5.0GB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01584" y="3712464"/>
            <a:ext cx="3529584" cy="1298448"/>
          </a:xfrm>
          <a:prstGeom prst="roundRect">
            <a:avLst>
              <a:gd name="adj" fmla="val 11268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75904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75904" y="411480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初回取得時に必要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75904" y="446227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AIモデル・追加機能・更新。取得後はローカル会話可能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11064240" cy="859536"/>
          </a:xfrm>
          <a:prstGeom prst="roundRect">
            <a:avLst>
              <a:gd name="adj" fmla="val 14894"/>
            </a:avLst>
          </a:prstGeom>
          <a:solidFill>
            <a:srgbClr val="FFF0F3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" y="5358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b="1">
                <a:solidFill>
                  <a:srgbClr val="A944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公開中は</a:t>
            </a:r>
            <a:r>
              <a:rPr lang="en-US" altLang="ja-JP" sz="1100" b="1">
                <a:solidFill>
                  <a:srgbClr val="A944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v1.0.2</a:t>
            </a:r>
            <a:r>
              <a:rPr lang="ja-JP" altLang="en-US" sz="1100" b="1">
                <a:solidFill>
                  <a:srgbClr val="A944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です。</a:t>
            </a:r>
            <a:r>
              <a:rPr lang="en-US" altLang="ja-JP" sz="1100" b="1">
                <a:solidFill>
                  <a:srgbClr val="A944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Ubuntu 24.04 LTS x64</a:t>
            </a:r>
            <a:r>
              <a:rPr lang="ja-JP" altLang="en-US" sz="1100" b="1">
                <a:solidFill>
                  <a:srgbClr val="A944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は次版</a:t>
            </a:r>
            <a:r>
              <a:rPr lang="en-US" altLang="ja-JP" sz="1100" b="1">
                <a:solidFill>
                  <a:srgbClr val="A944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v1.0.3</a:t>
            </a:r>
            <a:r>
              <a:rPr lang="ja-JP" altLang="en-US" sz="1100" b="1">
                <a:solidFill>
                  <a:srgbClr val="A944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で対応済みです。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7824" y="56327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.deb</a:t>
            </a:r>
            <a:r>
              <a:rPr lang="ja-JP" altLang="en-US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</a:t>
            </a:r>
            <a:r>
              <a:rPr lang="en-US" altLang="ja-JP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AppImage</a:t>
            </a:r>
            <a:r>
              <a:rPr lang="ja-JP" altLang="en-US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は検証済み・一般公開前です。</a:t>
            </a:r>
            <a:r>
              <a:rPr lang="en-US" altLang="ja-JP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r>
              <a:rPr lang="ja-JP" altLang="en-US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版は未署名のため</a:t>
            </a:r>
            <a:r>
              <a:rPr lang="en-US" altLang="ja-JP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SmartScreen</a:t>
            </a:r>
            <a:r>
              <a:rPr lang="ja-JP" altLang="en-US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警告が出る場合があります。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QUICK START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3ステップで、すぐそばに。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難しい準備は要りません。インストールしたら、あとは話しかけるだけです。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249424"/>
            <a:ext cx="3529584" cy="2286000"/>
          </a:xfrm>
          <a:prstGeom prst="roundRect">
            <a:avLst>
              <a:gd name="adj" fmla="val 7200"/>
            </a:avLst>
          </a:prstGeom>
          <a:solidFill>
            <a:srgbClr val="FFF0F3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4505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548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77824" y="3218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ダウンロード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362102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Releases</a:t>
            </a:r>
            <a:r>
              <a:rPr 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からWindows</a:t>
            </a:r>
            <a:r>
              <a:rPr lang="ja-JP" alt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アルファ</a:t>
            </a:r>
            <a:r>
              <a:rPr lang="en-US" sz="11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版のインストーラを取得します</a:t>
            </a:r>
            <a:r>
              <a:rPr lang="en-US" sz="11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33088" y="316382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C7C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34256" y="2249424"/>
            <a:ext cx="3529584" cy="2286000"/>
          </a:xfrm>
          <a:prstGeom prst="roundRect">
            <a:avLst>
              <a:gd name="adj" fmla="val 7200"/>
            </a:avLst>
          </a:prstGeom>
          <a:solidFill>
            <a:srgbClr val="ECF8F4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4505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FB3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45152" y="3218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初回セットアップ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2102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使い方と追加機能を選び、ローカルAIモデルを取得します。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00416" y="3163824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C7C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01584" y="2249424"/>
            <a:ext cx="3529584" cy="2286000"/>
          </a:xfrm>
          <a:prstGeom prst="roundRect">
            <a:avLst>
              <a:gd name="adj" fmla="val 7200"/>
            </a:avLst>
          </a:prstGeom>
          <a:solidFill>
            <a:srgbClr val="F2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4505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F80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412480" y="3218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キャラと話す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62102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入力または音声で話しかけます。設定はあとからいつでも変更できます。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15184" y="4901184"/>
            <a:ext cx="6967728" cy="1481328"/>
          </a:xfrm>
          <a:prstGeom prst="roundRect">
            <a:avLst>
              <a:gd name="adj" fmla="val 8642"/>
            </a:avLst>
          </a:prstGeom>
          <a:solidFill>
            <a:srgbClr val="FFFEFD"/>
          </a:solidFill>
          <a:ln/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pic>
        <p:nvPicPr>
          <p:cNvPr id="20" name="Image 0" descr="/tmp/claude-0/-home-user-PicoAgent/7130734a-69b9-54b3-90f7-bb7bb9043f8d/scratchpad/deck/img/flat-b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5047488"/>
            <a:ext cx="6675120" cy="1188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ALPHA </a:t>
            </a: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今の時点で、できないこと。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開発中の</a:t>
            </a:r>
            <a:r>
              <a:rPr lang="ja-JP" altLang="en-US" sz="12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アルファ</a:t>
            </a:r>
            <a:r>
              <a:rPr lang="en-US" sz="12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版なので</a:t>
            </a:r>
            <a:r>
              <a:rPr lang="en-US" sz="12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、先に正直にお伝えします。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3529584" cy="1389888"/>
          </a:xfrm>
          <a:prstGeom prst="roundRect">
            <a:avLst>
              <a:gd name="adj" fmla="val 10526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48716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配布は</a:t>
            </a:r>
            <a:r>
              <a:rPr lang="en-US" altLang="ja-JP" sz="14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</a:t>
            </a:r>
            <a:r>
              <a:rPr lang="ja-JP" altLang="en-US" sz="14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版のみ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852928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ja-JP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Ubuntu 24.04 LTS x64</a:t>
            </a:r>
            <a:r>
              <a:rPr lang="ja-JP" altLang="en-US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は次版で対応済み。</a:t>
            </a:r>
            <a:r>
              <a:rPr lang="en-US" altLang="ja-JP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.deb</a:t>
            </a:r>
            <a:r>
              <a:rPr lang="ja-JP" altLang="en-US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</a:t>
            </a:r>
            <a:r>
              <a:rPr lang="en-US" altLang="ja-JP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AppImage</a:t>
            </a:r>
            <a:r>
              <a:rPr lang="ja-JP" altLang="en-US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は検証済みですが、一般公開前です。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34256" y="2322576"/>
            <a:ext cx="3529584" cy="1389888"/>
          </a:xfrm>
          <a:prstGeom prst="roundRect">
            <a:avLst>
              <a:gd name="adj" fmla="val 10526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8576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248716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コード署名なし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08576" y="2852928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初回起動時にWindows SmartScreenの警告が出ることがあります。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01584" y="2322576"/>
            <a:ext cx="3529584" cy="1389888"/>
          </a:xfrm>
          <a:prstGeom prst="roundRect">
            <a:avLst>
              <a:gd name="adj" fmla="val 10526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5904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31936" y="248716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更新は手動確認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75904" y="2852928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ja-JP" altLang="en-US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設定画面から確認して実行します。自動更新は今後のバージョンで対応します。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3529584" cy="1389888"/>
          </a:xfrm>
          <a:prstGeom prst="roundRect">
            <a:avLst>
              <a:gd name="adj" fmla="val 10526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初回のダウンロードが大きい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4389120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本体に加えてAIモデルを取得します（小型 約3.1GB／通常 約5.0GB）。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34256" y="3858768"/>
            <a:ext cx="3529584" cy="1389888"/>
          </a:xfrm>
          <a:prstGeom prst="roundRect">
            <a:avLst>
              <a:gd name="adj" fmla="val 10526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402336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仕様が変わります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08576" y="4389120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ja-JP" altLang="en-US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アルファ</a:t>
            </a:r>
            <a:r>
              <a:rPr lang="en-US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期間中は機能</a:t>
            </a: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・画面・設定が変更される場合があります。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01584" y="3858768"/>
            <a:ext cx="3529584" cy="1389888"/>
          </a:xfrm>
          <a:prstGeom prst="roundRect">
            <a:avLst>
              <a:gd name="adj" fmla="val 10526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75904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31936" y="402336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1枚絵からのキャラ制作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75904" y="4389120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試験機能です。別コンポーネントの導入が必要で、入力の絵とPC環境で仕上がりが変わります。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55595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大事なデータのバックアップをおすすめします。気づいた点は、サポート窓口からお知らせください。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B548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 FREE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ja-JP" altLang="en-US" sz="33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すべての機能を、無料で試せます。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ja-JP" altLang="en-US" sz="12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開発中のアルファ版として公開しています。外部</a:t>
            </a:r>
            <a:r>
              <a:rPr lang="en-US" altLang="ja-JP" sz="12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r>
              <a:rPr lang="ja-JP" altLang="en-US" sz="12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サービスや追加コンポーネントには、各社・各配布元の条件が別途適用されます。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5486400" cy="3401568"/>
          </a:xfrm>
          <a:prstGeom prst="roundRect">
            <a:avLst>
              <a:gd name="adj" fmla="val 5376"/>
            </a:avLst>
          </a:prstGeom>
          <a:solidFill>
            <a:srgbClr val="292B3D"/>
          </a:solidFill>
          <a:ln/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6517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B54862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651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ALPHA · FULL ACCESS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30358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4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開発中アルファ版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33088" y="2926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2A8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50976" y="36758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8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43584" y="3675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ローカルAIとの会話・全キャラ機能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50976" y="40599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8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43584" y="40599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PC操作・ファイル編集・追加スキル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50976" y="444398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8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43584" y="4443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Office・外部サービス・MCP連携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50976" y="482803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8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43584" y="4828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すべての機能を無料公開中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45936" y="2377440"/>
            <a:ext cx="5285232" cy="3401568"/>
          </a:xfrm>
          <a:prstGeom prst="roundRect">
            <a:avLst>
              <a:gd name="adj" fmla="val 5376"/>
            </a:avLst>
          </a:prstGeom>
          <a:solidFill>
            <a:srgbClr val="FFFEFD"/>
          </a:solidFill>
          <a:ln w="12700">
            <a:solidFill>
              <a:srgbClr val="EADFE2"/>
            </a:solidFill>
            <a:prstDash val="solid"/>
          </a:ln>
          <a:effectLst>
            <a:outerShdw blurRad="152400" dist="38100" dir="5400000" algn="bl" rotWithShape="0">
              <a:srgbClr val="8A607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9984" y="2651760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F2EFFC"/>
          </a:solidFill>
          <a:ln/>
        </p:spPr>
      </p:sp>
      <p:sp>
        <p:nvSpPr>
          <p:cNvPr id="20" name="Text 18"/>
          <p:cNvSpPr/>
          <p:nvPr/>
        </p:nvSpPr>
        <p:spPr>
          <a:xfrm>
            <a:off x="6729984" y="265176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850" b="1" kern="0" spc="6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9984" y="30358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400" b="1">
                <a:solidFill>
                  <a:srgbClr val="292B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外部サービス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778240" y="31272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700" b="1">
                <a:solidFill>
                  <a:srgbClr val="8F80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必要な場合だけ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29984" y="36758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04304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</a:t>
            </a:r>
            <a:r>
              <a:rPr lang="en-US" altLang="ja-JP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r>
              <a:rPr lang="ja-JP" altLang="en-US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各社の利用料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9984" y="40599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4304" y="4059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追加コンポーネントの利用条件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9984" y="444398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04304" y="44439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利用者が用意する</a:t>
            </a:r>
            <a:r>
              <a:rPr lang="en-US" altLang="ja-JP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Live2D</a:t>
            </a:r>
            <a:r>
              <a:rPr lang="ja-JP" altLang="en-US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9984" y="482803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80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04304" y="4828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Code／Codex CLI</a:t>
            </a:r>
            <a:r>
              <a:rPr lang="ja-JP" altLang="en-US" sz="1150">
                <a:solidFill>
                  <a:srgbClr val="29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の利用条件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9984" y="5266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</a:t>
            </a:r>
            <a:r>
              <a:rPr lang="ja-JP" altLang="en-US" sz="100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本体は無料公開中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59984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950">
                <a:solidFill>
                  <a:srgbClr val="686A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開発中のアルファ版のため、機能・画面・設定が変更される場合があります。大事なデータはバックアップしてお使いください。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437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PicoAgent </a:t>
            </a:r>
            <a:r>
              <a:rPr lang="en-US" sz="85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84687" y="6437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79A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7007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A8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READY WHEN YOU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2066544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今日から、好きなキャラと</a:t>
            </a:r>
            <a:endParaRPr lang="en-US" sz="38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PCで暮らそう。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37124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開発中のWindows</a:t>
            </a:r>
            <a:r>
              <a:rPr lang="ja-JP" altLang="en-US" sz="135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アルファ</a:t>
            </a:r>
            <a:r>
              <a:rPr lang="en-US" sz="135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版を</a:t>
            </a:r>
            <a:r>
              <a:rPr lang="en-US" sz="1350" dirty="0">
                <a:solidFill>
                  <a:srgbClr val="C9C4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、無料で試せます。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4315968"/>
            <a:ext cx="3840480" cy="566928"/>
          </a:xfrm>
          <a:prstGeom prst="roundRect">
            <a:avLst>
              <a:gd name="adj" fmla="val 50000"/>
            </a:avLst>
          </a:prstGeom>
          <a:solidFill>
            <a:srgbClr val="B5486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43159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Windows版 </a:t>
            </a:r>
            <a:r>
              <a:rPr lang="en-US" sz="1300" b="1" kern="0" spc="6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v1.0.2 ALPHA </a:t>
            </a:r>
            <a:r>
              <a:rPr lang="en-US" sz="1300" b="1" kern="0" spc="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を取得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5047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B7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benybeny777.github.io/PicoAgent-Distribution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5376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8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導入・サポート ／ 利用条件 ／ プライバシー は公式ページに掲載しています。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973568" y="1371600"/>
            <a:ext cx="3291840" cy="3986784"/>
          </a:xfrm>
          <a:prstGeom prst="roundRect">
            <a:avLst>
              <a:gd name="adj" fmla="val 5556"/>
            </a:avLst>
          </a:prstGeom>
          <a:solidFill>
            <a:srgbClr val="3B3650"/>
          </a:solidFill>
          <a:ln/>
        </p:spPr>
      </p:sp>
      <p:pic>
        <p:nvPicPr>
          <p:cNvPr id="10" name="Image 0" descr="/tmp/claude-0/-home-user-PicoAgent/7130734a-69b9-54b3-90f7-bb7bb9043f8d/scratchpad/deck/img/flat-face-mugi-da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54480"/>
            <a:ext cx="2962656" cy="3630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1858</Words>
  <Application>Microsoft Office PowerPoint</Application>
  <PresentationFormat>ワイド画面</PresentationFormat>
  <Paragraphs>374</Paragraphs>
  <Slides>15</Slides>
  <Notes>15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Meiryo</vt:lpstr>
      <vt:lpstr>Yu Gothic</vt:lpstr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PicoAgent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PicoAgent 紹介資料</dc:title>
  <dc:subject>PptxGenJS Presentation</dc:subject>
  <dc:creator>PicoAgent</dc:creator>
  <cp:lastModifiedBy>将仁 紅屋</cp:lastModifiedBy>
  <cp:revision>7</cp:revision>
  <dcterms:created xsi:type="dcterms:W3CDTF">2026-08-20T05:29:04Z</dcterms:created>
  <dcterms:modified xsi:type="dcterms:W3CDTF">2026-08-23T13:58:21Z</dcterms:modified>
</cp:coreProperties>
</file>